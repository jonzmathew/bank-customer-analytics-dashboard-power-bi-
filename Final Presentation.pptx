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4"/>
  </p:notesMasterIdLst>
  <p:sldIdLst>
    <p:sldId id="303" r:id="rId2"/>
    <p:sldId id="266" r:id="rId3"/>
    <p:sldId id="256" r:id="rId4"/>
    <p:sldId id="300" r:id="rId5"/>
    <p:sldId id="267" r:id="rId6"/>
    <p:sldId id="269" r:id="rId7"/>
    <p:sldId id="270" r:id="rId8"/>
    <p:sldId id="302" r:id="rId9"/>
    <p:sldId id="271" r:id="rId10"/>
    <p:sldId id="301" r:id="rId11"/>
    <p:sldId id="259" r:id="rId12"/>
    <p:sldId id="285" r:id="rId13"/>
    <p:sldId id="286" r:id="rId14"/>
    <p:sldId id="287" r:id="rId15"/>
    <p:sldId id="288" r:id="rId16"/>
    <p:sldId id="260" r:id="rId17"/>
    <p:sldId id="304" r:id="rId18"/>
    <p:sldId id="305" r:id="rId19"/>
    <p:sldId id="306" r:id="rId20"/>
    <p:sldId id="273" r:id="rId21"/>
    <p:sldId id="277" r:id="rId22"/>
    <p:sldId id="278" r:id="rId23"/>
    <p:sldId id="279" r:id="rId24"/>
    <p:sldId id="280" r:id="rId25"/>
    <p:sldId id="281" r:id="rId26"/>
    <p:sldId id="282" r:id="rId27"/>
    <p:sldId id="272" r:id="rId28"/>
    <p:sldId id="283" r:id="rId29"/>
    <p:sldId id="258" r:id="rId30"/>
    <p:sldId id="261" r:id="rId31"/>
    <p:sldId id="262" r:id="rId32"/>
    <p:sldId id="263" r:id="rId33"/>
    <p:sldId id="264" r:id="rId34"/>
    <p:sldId id="265" r:id="rId35"/>
    <p:sldId id="289" r:id="rId36"/>
    <p:sldId id="307" r:id="rId37"/>
    <p:sldId id="308" r:id="rId38"/>
    <p:sldId id="284" r:id="rId39"/>
    <p:sldId id="274" r:id="rId40"/>
    <p:sldId id="276" r:id="rId41"/>
    <p:sldId id="275" r:id="rId42"/>
    <p:sldId id="290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EF94F-89EE-4B56-9C31-7EDEC2EC7B6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96996-988E-4D1B-86CA-B33D09C20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3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96996-988E-4D1B-86CA-B33D09C207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5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3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  <p:sldLayoutId id="214748366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polaroid-letters-2490552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870A-F857-8583-9F79-FE204A5E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993620" cy="5538019"/>
          </a:xfrm>
          <a:gradFill>
            <a:gsLst>
              <a:gs pos="10000">
                <a:schemeClr val="bg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4400" i="1" dirty="0">
                <a:latin typeface="Algerian" panose="04020705040A02060702" pitchFamily="82" charset="0"/>
              </a:rPr>
              <a:t>        </a:t>
            </a:r>
            <a:r>
              <a:rPr lang="en-US" sz="4400" b="1" i="1" dirty="0">
                <a:solidFill>
                  <a:schemeClr val="accent1"/>
                </a:solidFill>
                <a:latin typeface="Algerian" panose="04020705040A02060702" pitchFamily="82" charset="0"/>
              </a:rPr>
              <a:t>Banking Analytics</a:t>
            </a:r>
          </a:p>
          <a:p>
            <a:pPr marL="0" indent="0" algn="ctr">
              <a:buNone/>
            </a:pPr>
            <a:r>
              <a:rPr lang="en-US" sz="4400" i="1" dirty="0">
                <a:latin typeface="Algerian" panose="04020705040A02060702" pitchFamily="82" charset="0"/>
              </a:rPr>
              <a:t>                </a:t>
            </a: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4400" i="1" dirty="0">
                <a:latin typeface="Algerian" panose="04020705040A02060702" pitchFamily="82" charset="0"/>
              </a:rPr>
              <a:t>                    </a:t>
            </a:r>
            <a:r>
              <a:rPr lang="en-US" i="1" dirty="0">
                <a:solidFill>
                  <a:schemeClr val="accent1"/>
                </a:solidFill>
                <a:latin typeface="Algerian" panose="04020705040A02060702" pitchFamily="82" charset="0"/>
              </a:rPr>
              <a:t>Presented by group -2</a:t>
            </a:r>
          </a:p>
          <a:p>
            <a:pPr marL="0" indent="0" algn="ctr">
              <a:buNone/>
            </a:pPr>
            <a:r>
              <a:rPr lang="en-US" i="1" dirty="0">
                <a:latin typeface="Algerian" panose="04020705040A02060702" pitchFamily="82" charset="0"/>
              </a:rPr>
              <a:t>                       </a:t>
            </a:r>
            <a:r>
              <a:rPr lang="en-US" i="1" dirty="0">
                <a:solidFill>
                  <a:schemeClr val="accent1"/>
                </a:solidFill>
                <a:latin typeface="Algerian" panose="04020705040A02060702" pitchFamily="82" charset="0"/>
              </a:rPr>
              <a:t>18/02/2026</a:t>
            </a:r>
            <a:endParaRPr lang="en-IN" i="1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6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6697-2562-BA47-91F7-A56F773A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DA16-44D6-D454-5EEB-121BE92C4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456" y="2014313"/>
            <a:ext cx="8001000" cy="100534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Meet Our team: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CCA04-02CE-9E46-E48F-DC1F9A1FE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1456" y="3084870"/>
            <a:ext cx="6400800" cy="3126658"/>
          </a:xfrm>
          <a:gradFill>
            <a:gsLst>
              <a:gs pos="10000">
                <a:schemeClr val="bg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</a:rPr>
              <a:t>Anish Kumar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</a:rPr>
              <a:t>Johns 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</a:rPr>
              <a:t>Priyanshu Patra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</a:rPr>
              <a:t>Anshu Patel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</a:rPr>
              <a:t>Sriram Sambamoorthy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</a:rPr>
              <a:t>Shivali Chavan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rgbClr val="002060"/>
                </a:solidFill>
              </a:rPr>
              <a:t>Donthi Rama Dasthagiri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4A0B6-2202-39FF-7877-E05D79440579}"/>
              </a:ext>
            </a:extLst>
          </p:cNvPr>
          <p:cNvSpPr txBox="1"/>
          <p:nvPr/>
        </p:nvSpPr>
        <p:spPr>
          <a:xfrm>
            <a:off x="4684712" y="1367982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entury Gothic (Headings)"/>
              </a:rPr>
              <a:t>GROUP</a:t>
            </a:r>
            <a:r>
              <a:rPr lang="en-US" sz="3600" b="1" dirty="0">
                <a:solidFill>
                  <a:srgbClr val="002060"/>
                </a:solidFill>
              </a:rPr>
              <a:t> - 2</a:t>
            </a:r>
          </a:p>
        </p:txBody>
      </p:sp>
    </p:spTree>
    <p:extLst>
      <p:ext uri="{BB962C8B-B14F-4D97-AF65-F5344CB8AC3E}">
        <p14:creationId xmlns:p14="http://schemas.microsoft.com/office/powerpoint/2010/main" val="110100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2FEFA39-BFD2-44E0-375B-B18292ADA23F}"/>
              </a:ext>
            </a:extLst>
          </p:cNvPr>
          <p:cNvSpPr txBox="1">
            <a:spLocks/>
          </p:cNvSpPr>
          <p:nvPr/>
        </p:nvSpPr>
        <p:spPr>
          <a:xfrm>
            <a:off x="252919" y="312738"/>
            <a:ext cx="11572288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rgbClr val="002060"/>
                </a:solidFill>
              </a:rPr>
              <a:t>Debit And Credit Banking Data</a:t>
            </a:r>
          </a:p>
          <a:p>
            <a:pPr algn="ctr"/>
            <a:r>
              <a:rPr lang="en-IN" b="1" dirty="0">
                <a:solidFill>
                  <a:srgbClr val="002060"/>
                </a:solidFill>
              </a:rPr>
              <a:t>Report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C542C07-4A32-742E-2794-5D3B927FDAA8}"/>
              </a:ext>
            </a:extLst>
          </p:cNvPr>
          <p:cNvSpPr txBox="1">
            <a:spLocks/>
          </p:cNvSpPr>
          <p:nvPr/>
        </p:nvSpPr>
        <p:spPr>
          <a:xfrm>
            <a:off x="724867" y="1946786"/>
            <a:ext cx="9736656" cy="350028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    </a:t>
            </a:r>
            <a:r>
              <a:rPr lang="en-US" sz="5000" b="1" dirty="0">
                <a:solidFill>
                  <a:srgbClr val="002060"/>
                </a:solidFill>
              </a:rPr>
              <a:t>Objective: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5000" dirty="0">
                <a:solidFill>
                  <a:schemeClr val="accent1"/>
                </a:solidFill>
              </a:rPr>
              <a:t>To analyze performance and risk indicators using KPIs.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5000" dirty="0">
                <a:solidFill>
                  <a:schemeClr val="accent1"/>
                </a:solidFill>
              </a:rPr>
              <a:t>In summary, our dashboards are designed for </a:t>
            </a:r>
            <a:r>
              <a:rPr lang="en-US" sz="5000" b="1" dirty="0">
                <a:solidFill>
                  <a:schemeClr val="accent1"/>
                </a:solidFill>
              </a:rPr>
              <a:t>bank transaction monitoring and analysis</a:t>
            </a:r>
            <a:r>
              <a:rPr lang="en-US" sz="5000" dirty="0">
                <a:solidFill>
                  <a:schemeClr val="accent1"/>
                </a:solidFill>
              </a:rPr>
              <a:t> — helping financial analysts or managers track money flow, compare credit vs. debit performance across banks and branches, spot trends over time, and flag potentially risky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19864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4585C-9FF0-9E43-40CF-48E69F94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Tools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95C534-3918-D6C3-9234-68A8BB8C56B1}"/>
              </a:ext>
            </a:extLst>
          </p:cNvPr>
          <p:cNvSpPr/>
          <p:nvPr/>
        </p:nvSpPr>
        <p:spPr>
          <a:xfrm>
            <a:off x="1435262" y="3009413"/>
            <a:ext cx="3229337" cy="126274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Project Management Tools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BC37EE-8ECF-278B-F9D2-C92970808FC9}"/>
              </a:ext>
            </a:extLst>
          </p:cNvPr>
          <p:cNvSpPr/>
          <p:nvPr/>
        </p:nvSpPr>
        <p:spPr>
          <a:xfrm>
            <a:off x="6447093" y="1636671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E4EF12-EC7F-664D-3192-ABCE33589BCC}"/>
              </a:ext>
            </a:extLst>
          </p:cNvPr>
          <p:cNvSpPr/>
          <p:nvPr/>
        </p:nvSpPr>
        <p:spPr>
          <a:xfrm>
            <a:off x="6447093" y="2754771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Power Bi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A7EE80-80DE-45FC-8583-A987DAE11CA7}"/>
              </a:ext>
            </a:extLst>
          </p:cNvPr>
          <p:cNvSpPr/>
          <p:nvPr/>
        </p:nvSpPr>
        <p:spPr>
          <a:xfrm>
            <a:off x="6447093" y="3746511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Tableau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402243-817B-3725-3365-A5BB57589703}"/>
              </a:ext>
            </a:extLst>
          </p:cNvPr>
          <p:cNvSpPr/>
          <p:nvPr/>
        </p:nvSpPr>
        <p:spPr>
          <a:xfrm>
            <a:off x="6447093" y="4886442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MYSQL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FE2574-67E3-747A-024F-672AD5A8F47A}"/>
              </a:ext>
            </a:extLst>
          </p:cNvPr>
          <p:cNvCxnSpPr>
            <a:cxnSpLocks/>
          </p:cNvCxnSpPr>
          <p:nvPr/>
        </p:nvCxnSpPr>
        <p:spPr>
          <a:xfrm flipV="1">
            <a:off x="4641451" y="2014463"/>
            <a:ext cx="1759346" cy="14496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68923E-CD6F-526D-5C05-65E0AF2D65B5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664599" y="3771512"/>
            <a:ext cx="1782494" cy="3083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11A3B5-5263-B10C-F931-F837448EC8B7}"/>
              </a:ext>
            </a:extLst>
          </p:cNvPr>
          <p:cNvCxnSpPr>
            <a:cxnSpLocks/>
          </p:cNvCxnSpPr>
          <p:nvPr/>
        </p:nvCxnSpPr>
        <p:spPr>
          <a:xfrm flipV="1">
            <a:off x="4641451" y="3167543"/>
            <a:ext cx="1782494" cy="41881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E2CAF4-6DCD-2B65-D981-ECFBE7EB3101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4664599" y="3914955"/>
            <a:ext cx="1782494" cy="130483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99411A5-61DD-EA43-99AB-464F464CE104}"/>
              </a:ext>
            </a:extLst>
          </p:cNvPr>
          <p:cNvSpPr txBox="1"/>
          <p:nvPr/>
        </p:nvSpPr>
        <p:spPr>
          <a:xfrm>
            <a:off x="1396482" y="5082443"/>
            <a:ext cx="6110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Dataset: </a:t>
            </a:r>
            <a:r>
              <a:rPr lang="en-US" dirty="0"/>
              <a:t>Debit Credit Data</a:t>
            </a:r>
          </a:p>
        </p:txBody>
      </p:sp>
    </p:spTree>
    <p:extLst>
      <p:ext uri="{BB962C8B-B14F-4D97-AF65-F5344CB8AC3E}">
        <p14:creationId xmlns:p14="http://schemas.microsoft.com/office/powerpoint/2010/main" val="240328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D9EB-F0C7-C1D1-ED4F-B4DDC067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55D850-8E34-0841-2D7F-7B0C57174B6D}"/>
              </a:ext>
            </a:extLst>
          </p:cNvPr>
          <p:cNvSpPr txBox="1"/>
          <p:nvPr/>
        </p:nvSpPr>
        <p:spPr>
          <a:xfrm>
            <a:off x="449452" y="151770"/>
            <a:ext cx="10848812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sz="2400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Introduction</a:t>
            </a:r>
          </a:p>
          <a:p>
            <a:endParaRPr lang="en-US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About the Project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</a:rPr>
              <a:t>This project focuses on analyzing </a:t>
            </a:r>
            <a:r>
              <a:rPr lang="en-US" sz="2000" b="1" dirty="0">
                <a:solidFill>
                  <a:schemeClr val="accent1"/>
                </a:solidFill>
              </a:rPr>
              <a:t>credit and debit transaction data</a:t>
            </a:r>
            <a:r>
              <a:rPr lang="en-US" sz="2000" dirty="0">
                <a:solidFill>
                  <a:schemeClr val="accent1"/>
                </a:solidFill>
              </a:rPr>
              <a:t> across multiple banks and branches to generate meaningful financial insights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</a:rPr>
              <a:t>The objective is to transform raw banking transaction records into clear, actionable information for financial decision-making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</a:rPr>
              <a:t>Centralized </a:t>
            </a:r>
            <a:r>
              <a:rPr lang="en-US" sz="2000" b="1" dirty="0">
                <a:solidFill>
                  <a:schemeClr val="accent1"/>
                </a:solidFill>
              </a:rPr>
              <a:t>Power BI, Tableau, Excel dashboards</a:t>
            </a:r>
            <a:r>
              <a:rPr lang="en-US" sz="2000" dirty="0">
                <a:solidFill>
                  <a:schemeClr val="accent1"/>
                </a:solidFill>
              </a:rPr>
              <a:t> have been developed to monitor transaction performance, flow trends, and risk levels.</a:t>
            </a:r>
          </a:p>
          <a:p>
            <a:endParaRPr lang="en-US" sz="1800" b="1" dirty="0">
              <a:solidFill>
                <a:schemeClr val="accent1"/>
              </a:solidFill>
              <a:cs typeface="Calibri" panose="020F0502020204030204" pitchFamily="34" charset="0"/>
            </a:endParaRPr>
          </a:p>
          <a:p>
            <a:r>
              <a:rPr lang="en-US" sz="2000" b="1" cap="all" dirty="0">
                <a:ln w="3175" cmpd="sng">
                  <a:noFill/>
                </a:ln>
                <a:solidFill>
                  <a:schemeClr val="accent1"/>
                </a:solidFill>
                <a:latin typeface="Century Gothic (Body)"/>
                <a:ea typeface="+mj-ea"/>
                <a:cs typeface="+mj-cs"/>
              </a:rPr>
              <a:t>Purpose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</a:rPr>
              <a:t>Gain a comprehensive understanding of </a:t>
            </a:r>
            <a:r>
              <a:rPr lang="en-US" sz="2000" b="1" dirty="0">
                <a:solidFill>
                  <a:schemeClr val="accent1"/>
                </a:solidFill>
              </a:rPr>
              <a:t>overall credit and debit flow</a:t>
            </a:r>
            <a:r>
              <a:rPr lang="en-US" sz="2000" dirty="0">
                <a:solidFill>
                  <a:schemeClr val="accent1"/>
                </a:solidFill>
              </a:rPr>
              <a:t> and transaction growth trends across banks and branches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</a:rPr>
              <a:t>Identify </a:t>
            </a:r>
            <a:r>
              <a:rPr lang="en-US" sz="2000" b="1" dirty="0">
                <a:solidFill>
                  <a:schemeClr val="accent1"/>
                </a:solidFill>
              </a:rPr>
              <a:t>high-risk transactions</a:t>
            </a:r>
            <a:r>
              <a:rPr lang="en-US" sz="2000" dirty="0">
                <a:solidFill>
                  <a:schemeClr val="accent1"/>
                </a:solidFill>
              </a:rPr>
              <a:t>, credit-to-debit imbalances, and branches with unusual activity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2060"/>
              </a:solidFill>
              <a:latin typeface="Century Gothic (Body)"/>
            </a:endParaRP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63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D670-5B5C-5B2C-D45D-2A363B9E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2505A8-F629-03E7-4C73-4A05458F3465}"/>
              </a:ext>
            </a:extLst>
          </p:cNvPr>
          <p:cNvSpPr txBox="1">
            <a:spLocks/>
          </p:cNvSpPr>
          <p:nvPr/>
        </p:nvSpPr>
        <p:spPr>
          <a:xfrm>
            <a:off x="330740" y="197189"/>
            <a:ext cx="11339484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Data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1917FD-CF1A-DC55-BC1D-5E50BC6B8D78}"/>
              </a:ext>
            </a:extLst>
          </p:cNvPr>
          <p:cNvSpPr txBox="1">
            <a:spLocks/>
          </p:cNvSpPr>
          <p:nvPr/>
        </p:nvSpPr>
        <p:spPr>
          <a:xfrm>
            <a:off x="175757" y="1515390"/>
            <a:ext cx="11230996" cy="3827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Total Rows Used: </a:t>
            </a:r>
            <a:r>
              <a:rPr lang="en-US" dirty="0">
                <a:solidFill>
                  <a:srgbClr val="002060"/>
                </a:solidFill>
              </a:rPr>
              <a:t>1Lakh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Total Columns Used: </a:t>
            </a:r>
            <a:r>
              <a:rPr lang="en-US" dirty="0">
                <a:solidFill>
                  <a:srgbClr val="002060"/>
                </a:solidFill>
              </a:rPr>
              <a:t>13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    Important Columns: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Customer ID, Account Number,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Month, Transaction Type, Amount, Balance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Branch, Transaction Method, Bank Name</a:t>
            </a:r>
          </a:p>
        </p:txBody>
      </p:sp>
    </p:spTree>
    <p:extLst>
      <p:ext uri="{BB962C8B-B14F-4D97-AF65-F5344CB8AC3E}">
        <p14:creationId xmlns:p14="http://schemas.microsoft.com/office/powerpoint/2010/main" val="28042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11AE-556B-2395-A9C5-E8A71199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EADF-0DFB-6292-C99F-401EB68EB568}"/>
              </a:ext>
            </a:extLst>
          </p:cNvPr>
          <p:cNvSpPr txBox="1">
            <a:spLocks/>
          </p:cNvSpPr>
          <p:nvPr/>
        </p:nvSpPr>
        <p:spPr>
          <a:xfrm>
            <a:off x="533400" y="189866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Objectives -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7B32-1641-AE47-566F-E5854200C595}"/>
              </a:ext>
            </a:extLst>
          </p:cNvPr>
          <p:cNvSpPr txBox="1">
            <a:spLocks/>
          </p:cNvSpPr>
          <p:nvPr/>
        </p:nvSpPr>
        <p:spPr>
          <a:xfrm>
            <a:off x="533399" y="1737431"/>
            <a:ext cx="10970343" cy="44667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chemeClr val="accent1"/>
                </a:solidFill>
              </a:rPr>
              <a:t>1. Total Credit Amount :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dirty="0">
                <a:solidFill>
                  <a:schemeClr val="accent1"/>
                </a:solidFill>
                <a:cs typeface="Arial" panose="020B0604020202020204" pitchFamily="34" charset="0"/>
              </a:rPr>
              <a:t>Measures the total amount of deposits or credits</a:t>
            </a:r>
            <a:endParaRPr lang="en-US" sz="1700" dirty="0">
              <a:solidFill>
                <a:schemeClr val="accent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chemeClr val="accent1"/>
                </a:solidFill>
              </a:rPr>
              <a:t>2.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b="1" dirty="0">
                <a:solidFill>
                  <a:schemeClr val="accent1"/>
                </a:solidFill>
              </a:rPr>
              <a:t>Total Debit Amount :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dirty="0">
                <a:solidFill>
                  <a:schemeClr val="accent1"/>
                </a:solidFill>
                <a:cs typeface="Arial" panose="020B0604020202020204" pitchFamily="34" charset="0"/>
              </a:rPr>
              <a:t>Measures the total amount of withdrawals or debits.</a:t>
            </a:r>
            <a:endParaRPr lang="en-US" sz="1700" dirty="0">
              <a:solidFill>
                <a:schemeClr val="accent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chemeClr val="accent1"/>
                </a:solidFill>
              </a:rPr>
              <a:t>3.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b="1" dirty="0">
                <a:solidFill>
                  <a:schemeClr val="accent1"/>
                </a:solidFill>
              </a:rPr>
              <a:t>Credit to Debit Ratio :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dirty="0">
                <a:solidFill>
                  <a:schemeClr val="accent1"/>
                </a:solidFill>
                <a:cs typeface="Arial" panose="020B0604020202020204" pitchFamily="34" charset="0"/>
              </a:rPr>
              <a:t>Total Credit Amount ÷ Total Debit Amount</a:t>
            </a:r>
          </a:p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chemeClr val="accent1"/>
                </a:solidFill>
                <a:cs typeface="Arial" panose="020B0604020202020204" pitchFamily="34" charset="0"/>
              </a:rPr>
              <a:t>Insight</a:t>
            </a:r>
            <a:r>
              <a:rPr lang="en-US" sz="1700" dirty="0">
                <a:solidFill>
                  <a:schemeClr val="accent1"/>
                </a:solidFill>
                <a:cs typeface="Arial" panose="020B0604020202020204" pitchFamily="34" charset="0"/>
              </a:rPr>
              <a:t>: Shows the ratio of credits to debits, which helps to understand whether the bank is receiving more deposits than withdrawals</a:t>
            </a:r>
            <a:endParaRPr lang="en-US" sz="1700" dirty="0">
              <a:solidFill>
                <a:schemeClr val="accent1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1700" b="1" dirty="0">
                <a:solidFill>
                  <a:schemeClr val="accent1"/>
                </a:solidFill>
              </a:rPr>
              <a:t>4.</a:t>
            </a:r>
            <a:r>
              <a:rPr lang="en-US" sz="1700" dirty="0">
                <a:solidFill>
                  <a:schemeClr val="accent1"/>
                </a:solidFill>
              </a:rPr>
              <a:t> </a:t>
            </a:r>
            <a:r>
              <a:rPr lang="en-US" sz="1700" b="1" dirty="0">
                <a:solidFill>
                  <a:schemeClr val="accent1"/>
                </a:solidFill>
              </a:rPr>
              <a:t>Net Transactions : </a:t>
            </a:r>
            <a:r>
              <a:rPr lang="en-US" sz="1700" dirty="0">
                <a:solidFill>
                  <a:schemeClr val="accent1"/>
                </a:solidFill>
                <a:cs typeface="Arial" panose="020B0604020202020204" pitchFamily="34" charset="0"/>
              </a:rPr>
              <a:t>Total Credit Amount - Total Debit Amount.</a:t>
            </a:r>
          </a:p>
          <a:p>
            <a:pPr>
              <a:lnSpc>
                <a:spcPct val="200000"/>
              </a:lnSpc>
            </a:pPr>
            <a:r>
              <a:rPr lang="en-US" sz="1700" dirty="0">
                <a:solidFill>
                  <a:schemeClr val="accent1"/>
                </a:solidFill>
              </a:rPr>
              <a:t>Insight : </a:t>
            </a:r>
            <a:r>
              <a:rPr lang="en-US" sz="1700" dirty="0">
                <a:solidFill>
                  <a:schemeClr val="accent1"/>
                </a:solidFill>
                <a:cs typeface="Arial" panose="020B0604020202020204" pitchFamily="34" charset="0"/>
              </a:rPr>
              <a:t>Measures the net cash flow (positive or negative) for the bank over a period.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86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11AE-556B-2395-A9C5-E8A71199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EADF-0DFB-6292-C99F-401EB68EB568}"/>
              </a:ext>
            </a:extLst>
          </p:cNvPr>
          <p:cNvSpPr txBox="1">
            <a:spLocks/>
          </p:cNvSpPr>
          <p:nvPr/>
        </p:nvSpPr>
        <p:spPr>
          <a:xfrm>
            <a:off x="533400" y="189866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Objectives -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7B32-1641-AE47-566F-E5854200C595}"/>
              </a:ext>
            </a:extLst>
          </p:cNvPr>
          <p:cNvSpPr txBox="1">
            <a:spLocks/>
          </p:cNvSpPr>
          <p:nvPr/>
        </p:nvSpPr>
        <p:spPr>
          <a:xfrm>
            <a:off x="533399" y="1943910"/>
            <a:ext cx="10970343" cy="420125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chemeClr val="accent1"/>
                </a:solidFill>
              </a:rPr>
              <a:t>5. </a:t>
            </a:r>
            <a:r>
              <a:rPr lang="en-US" b="1" dirty="0">
                <a:solidFill>
                  <a:schemeClr val="accent1"/>
                </a:solidFill>
              </a:rPr>
              <a:t>Activity Ratio : </a:t>
            </a:r>
            <a:r>
              <a:rPr lang="en-US" sz="2000" dirty="0">
                <a:solidFill>
                  <a:schemeClr val="accent1"/>
                </a:solidFill>
                <a:cs typeface="Arial" panose="020B0604020202020204" pitchFamily="34" charset="0"/>
              </a:rPr>
              <a:t>Number of transactions ÷ Account balance.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accent1"/>
                </a:solidFill>
                <a:cs typeface="Arial" panose="020B0604020202020204" pitchFamily="34" charset="0"/>
              </a:rPr>
              <a:t>Insight:</a:t>
            </a:r>
            <a:r>
              <a:rPr lang="en-US" sz="2000" dirty="0">
                <a:solidFill>
                  <a:schemeClr val="accent1"/>
                </a:solidFill>
                <a:cs typeface="Arial" panose="020B0604020202020204" pitchFamily="34" charset="0"/>
              </a:rPr>
              <a:t> Indicates how active a customer is in relation to their balance.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1"/>
                </a:solidFill>
              </a:rPr>
              <a:t>6.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Branch Transaction Growth : </a:t>
            </a:r>
            <a:r>
              <a:rPr lang="en-US" sz="2000" dirty="0">
                <a:solidFill>
                  <a:schemeClr val="accent1"/>
                </a:solidFill>
                <a:cs typeface="Arial" panose="020B0604020202020204" pitchFamily="34" charset="0"/>
              </a:rPr>
              <a:t>Percentage change in the total transaction amount or volume at each branch over a defined period.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accent1"/>
                </a:solidFill>
                <a:cs typeface="Arial" panose="020B0604020202020204" pitchFamily="34" charset="0"/>
              </a:rPr>
              <a:t>Insight:</a:t>
            </a:r>
            <a:r>
              <a:rPr lang="en-US" sz="2000" dirty="0">
                <a:solidFill>
                  <a:schemeClr val="accent1"/>
                </a:solidFill>
                <a:cs typeface="Arial" panose="020B0604020202020204" pitchFamily="34" charset="0"/>
              </a:rPr>
              <a:t> Identifies whether a particular branch is growing or declining in terms of transaction volume.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1"/>
                </a:solidFill>
              </a:rPr>
              <a:t>7. Transaction Amount by Branch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1"/>
                </a:solidFill>
              </a:rPr>
              <a:t>8.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Distribution by transaction Method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1"/>
                </a:solidFill>
              </a:rPr>
              <a:t>9.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High Risk Transaction Flag : </a:t>
            </a:r>
            <a:r>
              <a:rPr lang="en-US" sz="2000" dirty="0">
                <a:solidFill>
                  <a:schemeClr val="accent1"/>
                </a:solidFill>
                <a:cs typeface="Arial" panose="020B0604020202020204" pitchFamily="34" charset="0"/>
              </a:rPr>
              <a:t>Flag transactions that exceed a predefined amount or show irregular activity (e.g., large withdrawals or deposits).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accent1"/>
                </a:solidFill>
                <a:cs typeface="Arial" panose="020B0604020202020204" pitchFamily="34" charset="0"/>
              </a:rPr>
              <a:t>Insight: </a:t>
            </a:r>
            <a:r>
              <a:rPr lang="en-US" sz="2000" dirty="0">
                <a:solidFill>
                  <a:schemeClr val="accent1"/>
                </a:solidFill>
                <a:cs typeface="Arial" panose="020B0604020202020204" pitchFamily="34" charset="0"/>
              </a:rPr>
              <a:t>Helps to identify potentially fraudulent transactions that need further investigation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95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179F-0640-BA35-1684-BDC32100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F89713-4BDD-6EFE-1568-4C8D2B52B5EB}"/>
              </a:ext>
            </a:extLst>
          </p:cNvPr>
          <p:cNvSpPr txBox="1">
            <a:spLocks/>
          </p:cNvSpPr>
          <p:nvPr/>
        </p:nvSpPr>
        <p:spPr>
          <a:xfrm>
            <a:off x="620949" y="110247"/>
            <a:ext cx="10305356" cy="102112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Process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165115-F8FA-9BBD-39B3-5E9E5D3BD54C}"/>
              </a:ext>
            </a:extLst>
          </p:cNvPr>
          <p:cNvSpPr txBox="1">
            <a:spLocks/>
          </p:cNvSpPr>
          <p:nvPr/>
        </p:nvSpPr>
        <p:spPr>
          <a:xfrm>
            <a:off x="620948" y="1553360"/>
            <a:ext cx="968325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D54B4-49EE-60C5-AB54-863DB79E7CD9}"/>
              </a:ext>
            </a:extLst>
          </p:cNvPr>
          <p:cNvSpPr txBox="1"/>
          <p:nvPr/>
        </p:nvSpPr>
        <p:spPr>
          <a:xfrm>
            <a:off x="620948" y="1187387"/>
            <a:ext cx="9388292" cy="1839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/>
                </a:solidFill>
              </a:rPr>
              <a:t>Step 1: Data Cleaning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Checked for </a:t>
            </a:r>
            <a:r>
              <a:rPr lang="en-US" b="1" dirty="0">
                <a:solidFill>
                  <a:schemeClr val="accent1"/>
                </a:solidFill>
              </a:rPr>
              <a:t>null values and duplicates</a:t>
            </a:r>
            <a:r>
              <a:rPr lang="en-US" dirty="0">
                <a:solidFill>
                  <a:schemeClr val="accent1"/>
                </a:solidFill>
              </a:rPr>
              <a:t> in transaction records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Corrected </a:t>
            </a:r>
            <a:r>
              <a:rPr lang="en-US" b="1" dirty="0">
                <a:solidFill>
                  <a:schemeClr val="accent1"/>
                </a:solidFill>
              </a:rPr>
              <a:t>date formats</a:t>
            </a:r>
            <a:r>
              <a:rPr lang="en-US" dirty="0">
                <a:solidFill>
                  <a:schemeClr val="accent1"/>
                </a:solidFill>
              </a:rPr>
              <a:t> for Transaction Date column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Standardized </a:t>
            </a:r>
            <a:r>
              <a:rPr lang="en-US" b="1" dirty="0">
                <a:solidFill>
                  <a:schemeClr val="accent1"/>
                </a:solidFill>
              </a:rPr>
              <a:t>Bank Name, Branch, and Transaction Method</a:t>
            </a:r>
            <a:r>
              <a:rPr lang="en-US" dirty="0">
                <a:solidFill>
                  <a:schemeClr val="accent1"/>
                </a:solidFill>
              </a:rPr>
              <a:t> fields for consistency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EB9FB-169F-B78B-029B-EFC35BEFAA04}"/>
              </a:ext>
            </a:extLst>
          </p:cNvPr>
          <p:cNvSpPr txBox="1"/>
          <p:nvPr/>
        </p:nvSpPr>
        <p:spPr>
          <a:xfrm>
            <a:off x="616790" y="3494566"/>
            <a:ext cx="9201478" cy="2809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Step 2: Created Calculated Fields &amp; Measures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Total Credit Amount</a:t>
            </a:r>
            <a:r>
              <a:rPr lang="en-US" dirty="0">
                <a:solidFill>
                  <a:schemeClr val="accent1"/>
                </a:solidFill>
              </a:rPr>
              <a:t> — sum of all inflow transactions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Total Debit Amount</a:t>
            </a:r>
            <a:r>
              <a:rPr lang="en-US" dirty="0">
                <a:solidFill>
                  <a:schemeClr val="accent1"/>
                </a:solidFill>
              </a:rPr>
              <a:t> — sum of all outflow transactions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Net Transaction Amount</a:t>
            </a:r>
            <a:r>
              <a:rPr lang="en-US" dirty="0">
                <a:solidFill>
                  <a:schemeClr val="accent1"/>
                </a:solidFill>
              </a:rPr>
              <a:t> — difference between credit and debit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Credit-to-Debit Ratio</a:t>
            </a:r>
            <a:r>
              <a:rPr lang="en-US" dirty="0">
                <a:solidFill>
                  <a:schemeClr val="accent1"/>
                </a:solidFill>
              </a:rPr>
              <a:t> — to measure financial balance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Account Activity Ratio</a:t>
            </a:r>
            <a:r>
              <a:rPr lang="en-US" dirty="0">
                <a:solidFill>
                  <a:schemeClr val="accent1"/>
                </a:solidFill>
              </a:rPr>
              <a:t> — to track account usage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High Risk Count &amp; Normal Count</a:t>
            </a:r>
            <a:r>
              <a:rPr lang="en-US" dirty="0">
                <a:solidFill>
                  <a:schemeClr val="accent1"/>
                </a:solidFill>
              </a:rPr>
              <a:t> — to classify transaction risk levels</a:t>
            </a:r>
          </a:p>
        </p:txBody>
      </p:sp>
    </p:spTree>
    <p:extLst>
      <p:ext uri="{BB962C8B-B14F-4D97-AF65-F5344CB8AC3E}">
        <p14:creationId xmlns:p14="http://schemas.microsoft.com/office/powerpoint/2010/main" val="345656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179F-0640-BA35-1684-BDC32100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F89713-4BDD-6EFE-1568-4C8D2B52B5EB}"/>
              </a:ext>
            </a:extLst>
          </p:cNvPr>
          <p:cNvSpPr txBox="1">
            <a:spLocks/>
          </p:cNvSpPr>
          <p:nvPr/>
        </p:nvSpPr>
        <p:spPr>
          <a:xfrm>
            <a:off x="620949" y="110247"/>
            <a:ext cx="10305356" cy="102112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Process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165115-F8FA-9BBD-39B3-5E9E5D3BD54C}"/>
              </a:ext>
            </a:extLst>
          </p:cNvPr>
          <p:cNvSpPr txBox="1">
            <a:spLocks/>
          </p:cNvSpPr>
          <p:nvPr/>
        </p:nvSpPr>
        <p:spPr>
          <a:xfrm>
            <a:off x="620948" y="1553360"/>
            <a:ext cx="968325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560DB-BE20-89FC-010A-5E7D138579CE}"/>
              </a:ext>
            </a:extLst>
          </p:cNvPr>
          <p:cNvSpPr txBox="1"/>
          <p:nvPr/>
        </p:nvSpPr>
        <p:spPr>
          <a:xfrm>
            <a:off x="620948" y="1217408"/>
            <a:ext cx="8523052" cy="2532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Step 3: Built Charts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Line Charts</a:t>
            </a:r>
            <a:r>
              <a:rPr lang="en-US" dirty="0">
                <a:solidFill>
                  <a:schemeClr val="accent1"/>
                </a:solidFill>
              </a:rPr>
              <a:t> — Monthly and Quarterly transaction trends for Credit &amp; Debit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Column Charts</a:t>
            </a:r>
            <a:r>
              <a:rPr lang="en-US" dirty="0">
                <a:solidFill>
                  <a:schemeClr val="accent1"/>
                </a:solidFill>
              </a:rPr>
              <a:t> — Transaction amount by Branch and Bank Name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Donut/Pie Charts</a:t>
            </a:r>
            <a:r>
              <a:rPr lang="en-US" dirty="0">
                <a:solidFill>
                  <a:schemeClr val="accent1"/>
                </a:solidFill>
              </a:rPr>
              <a:t> — Distribution by Transaction Method and Flow Direction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Gauge Charts</a:t>
            </a:r>
            <a:r>
              <a:rPr lang="en-US" dirty="0">
                <a:solidFill>
                  <a:schemeClr val="accent1"/>
                </a:solidFill>
              </a:rPr>
              <a:t> — Credit and Debit performance against targets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Pivot Table</a:t>
            </a:r>
            <a:r>
              <a:rPr lang="en-US" dirty="0">
                <a:solidFill>
                  <a:schemeClr val="accent1"/>
                </a:solidFill>
              </a:rPr>
              <a:t> — Branch-wise and Bank-wise breakdown of transactions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7FB1A8-ED2D-6611-83D3-E3598A76ED36}"/>
              </a:ext>
            </a:extLst>
          </p:cNvPr>
          <p:cNvSpPr txBox="1"/>
          <p:nvPr/>
        </p:nvSpPr>
        <p:spPr>
          <a:xfrm>
            <a:off x="620948" y="4184171"/>
            <a:ext cx="10597658" cy="1701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/>
                </a:solidFill>
              </a:rPr>
              <a:t>Step 4: Dashboard Design and KPI Cards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Designed 4 report pages </a:t>
            </a:r>
            <a:r>
              <a:rPr lang="en-US" dirty="0">
                <a:solidFill>
                  <a:schemeClr val="accent1"/>
                </a:solidFill>
              </a:rPr>
              <a:t>— Overview, Credit, Debit, and Details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Added KPI Cards</a:t>
            </a:r>
            <a:r>
              <a:rPr lang="en-US" dirty="0">
                <a:solidFill>
                  <a:schemeClr val="accent1"/>
                </a:solidFill>
              </a:rPr>
              <a:t> for Total Credit, Total Debit, Net Amount, Activity Ratio, and Risk Count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</a:rPr>
              <a:t>I</a:t>
            </a:r>
            <a:r>
              <a:rPr lang="en-US" b="1" dirty="0">
                <a:solidFill>
                  <a:schemeClr val="accent1"/>
                </a:solidFill>
              </a:rPr>
              <a:t>ntegrated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Bank Name slicer</a:t>
            </a:r>
            <a:r>
              <a:rPr lang="en-US" dirty="0">
                <a:solidFill>
                  <a:schemeClr val="accent1"/>
                </a:solidFill>
              </a:rPr>
              <a:t> for interactive filtering across all pages</a:t>
            </a:r>
          </a:p>
        </p:txBody>
      </p:sp>
    </p:spTree>
    <p:extLst>
      <p:ext uri="{BB962C8B-B14F-4D97-AF65-F5344CB8AC3E}">
        <p14:creationId xmlns:p14="http://schemas.microsoft.com/office/powerpoint/2010/main" val="381338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758C-A0DB-D2EC-0255-A9017E38B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TRANSACTIONS OVER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84DA7-D4C0-FE8B-5C4E-52A766806DEE}"/>
              </a:ext>
            </a:extLst>
          </p:cNvPr>
          <p:cNvSpPr txBox="1"/>
          <p:nvPr/>
        </p:nvSpPr>
        <p:spPr>
          <a:xfrm>
            <a:off x="6194325" y="1935500"/>
            <a:ext cx="5122605" cy="3416320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entury Gothic (Body)"/>
              </a:rPr>
              <a:t>Insights: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entury Gothic (Body)"/>
              </a:rPr>
              <a:t>Transactions remain stable from January to November, indicating consistent customer activity.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entury Gothic (Body)"/>
              </a:rPr>
              <a:t>Highest volumes occur mid-year (around July–August), showing a seasonal peak.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entury Gothic (Body)"/>
              </a:rPr>
              <a:t>December shows an extreme drop, likely due to incomplete or missing data rather than true performance decline.</a:t>
            </a:r>
          </a:p>
          <a:p>
            <a:endParaRPr lang="en-IN" dirty="0">
              <a:latin typeface="Century Gothic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D9B0D-3A49-8616-2E8C-D6CE34D21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31" y="1849638"/>
            <a:ext cx="5318746" cy="35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49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04B6-54C1-055B-3011-7DE59ABD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83EC2-0D5F-6AE4-9C38-018C2B88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BRANCH TRANSACTION GROWTH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76A26A-430C-A101-690B-52F93854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37" y="1002890"/>
            <a:ext cx="9651526" cy="4143806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652EAFDB-0B14-ED56-8396-D3261F8B1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40" y="5278941"/>
            <a:ext cx="12054349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December 2024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saw a sharp drop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-96% to -97%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across all branches — possible data gap or major disruption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Most branches stayed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-12% to +14%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mid-year,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Suburban Branch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peaking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+14% in August 2024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North Branch (-16%)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East Branch (-12%)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were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most inconsistent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performers of the year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1BFB3-D527-29BA-F267-8AA6EEBD6B7C}"/>
              </a:ext>
            </a:extLst>
          </p:cNvPr>
          <p:cNvSpPr txBox="1"/>
          <p:nvPr/>
        </p:nvSpPr>
        <p:spPr>
          <a:xfrm>
            <a:off x="186813" y="5278940"/>
            <a:ext cx="11897032" cy="1419777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>
              <a:latin typeface="Century Gothic (Body)"/>
            </a:endParaRPr>
          </a:p>
        </p:txBody>
      </p:sp>
    </p:spTree>
    <p:extLst>
      <p:ext uri="{BB962C8B-B14F-4D97-AF65-F5344CB8AC3E}">
        <p14:creationId xmlns:p14="http://schemas.microsoft.com/office/powerpoint/2010/main" val="54986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02F7C-50A9-124B-0BDA-922FD8FA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E6C0-CE11-9C26-6536-84D88FFEF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TRANSACTION METHOD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9E095-EBD5-3C69-7391-9561E276E2B2}"/>
              </a:ext>
            </a:extLst>
          </p:cNvPr>
          <p:cNvSpPr txBox="1"/>
          <p:nvPr/>
        </p:nvSpPr>
        <p:spPr>
          <a:xfrm>
            <a:off x="6594549" y="2182505"/>
            <a:ext cx="4719485" cy="2492990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Transaction methods are evenly distributed across Debit Card (33.35%), Bank Transfer (33.34%), and Credit Card (33.31%).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No single payment method dominates, indicating balanced customer preferences.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organization should support and optimize all three channels equally to maintain smooth transaction experiences.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A1EA5-495A-4C19-D6C9-E7565287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66" y="1637216"/>
            <a:ext cx="4982062" cy="40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5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7C501-5C81-6A31-CD9D-BD50FBA4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DB123-1E80-65EC-281B-F3019B801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TRANSACTION VOLUME BY BANK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EB35C-CE4F-7F49-9F55-80FF8E27CB7A}"/>
              </a:ext>
            </a:extLst>
          </p:cNvPr>
          <p:cNvSpPr txBox="1"/>
          <p:nvPr/>
        </p:nvSpPr>
        <p:spPr>
          <a:xfrm>
            <a:off x="7059561" y="2435107"/>
            <a:ext cx="4552335" cy="3441711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entury Gothic (Body)"/>
              </a:rPr>
              <a:t>Kotak Mahindra Bank records the highest transaction volume at ₹42.83M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entury Gothic (Body)"/>
              </a:rPr>
              <a:t>Transaction volumes across all listed banks are very closely clustered, indicating a competitive and balanced banking landscape.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500" dirty="0">
                <a:solidFill>
                  <a:schemeClr val="bg1">
                    <a:lumMod val="95000"/>
                    <a:lumOff val="5000"/>
                  </a:schemeClr>
                </a:solidFill>
                <a:latin typeface="Century Gothic (Body)"/>
              </a:rPr>
              <a:t>HDFC Bank shows the lowest volume among the group, but the difference is marginal.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86A79-1398-AC8B-0CD0-245A0FB8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80" y="2052256"/>
            <a:ext cx="6066733" cy="321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3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3D28-A924-33A4-1BEA-9EF284FF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26DFB-2406-98DD-2141-B73D866FE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RISK FACTOR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6ED5E-0B8A-E104-116B-1BA82CC3ED84}"/>
              </a:ext>
            </a:extLst>
          </p:cNvPr>
          <p:cNvSpPr txBox="1"/>
          <p:nvPr/>
        </p:nvSpPr>
        <p:spPr>
          <a:xfrm>
            <a:off x="4208207" y="1549794"/>
            <a:ext cx="7260253" cy="5216813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Normal Count: 80K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80,000 transactions</a:t>
            </a:r>
            <a:r>
              <a:rPr lang="en-US" dirty="0">
                <a:solidFill>
                  <a:schemeClr val="bg1"/>
                </a:solidFill>
              </a:rPr>
              <a:t> are classified as normal and within safe parameters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represents </a:t>
            </a:r>
            <a:r>
              <a:rPr lang="en-US" b="1" dirty="0">
                <a:solidFill>
                  <a:schemeClr val="bg1"/>
                </a:solidFill>
              </a:rPr>
              <a:t>80% of total transactions</a:t>
            </a:r>
            <a:r>
              <a:rPr lang="en-US" dirty="0">
                <a:solidFill>
                  <a:schemeClr val="bg1"/>
                </a:solidFill>
              </a:rPr>
              <a:t> — majority of banking activity is healthy and stable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High Risk Count: 20K</a:t>
            </a: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20,000 transactions</a:t>
            </a:r>
            <a:r>
              <a:rPr lang="en-US" dirty="0">
                <a:solidFill>
                  <a:schemeClr val="bg1"/>
                </a:solidFill>
              </a:rPr>
              <a:t> are flagged as high risk or suspicious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represents </a:t>
            </a:r>
            <a:r>
              <a:rPr lang="en-US" b="1" dirty="0">
                <a:solidFill>
                  <a:schemeClr val="bg1"/>
                </a:solidFill>
              </a:rPr>
              <a:t>20% of total transactions</a:t>
            </a:r>
            <a:r>
              <a:rPr lang="en-US" dirty="0">
                <a:solidFill>
                  <a:schemeClr val="bg1"/>
                </a:solidFill>
              </a:rPr>
              <a:t> — which is significantly high compared to the industry standard of below 5%</a:t>
            </a:r>
          </a:p>
          <a:p>
            <a:endParaRPr lang="en-US" dirty="0"/>
          </a:p>
          <a:p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DBAE5-088D-D9E3-5DA6-381500DA1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22" y="2313400"/>
            <a:ext cx="2847301" cy="212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72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E9114A-3112-7103-D685-04F23D928557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 power BI) 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27E82-7FA3-E4C0-5CC9-A3314B8F8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8" y="753395"/>
            <a:ext cx="10461522" cy="581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12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EC0D70-30A4-C833-53B6-9DD714F21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13" y="117987"/>
            <a:ext cx="5712542" cy="3001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D2BA51-109B-440D-3F4D-AD10DF0D3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174" y="117986"/>
            <a:ext cx="5978013" cy="30011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4CD317-313B-7989-28D3-97DAE8CFD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456" y="3283974"/>
            <a:ext cx="9095486" cy="338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9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4DD95D-ACEB-20D1-C5DB-C7903AFE7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424" y="1020095"/>
            <a:ext cx="11316759" cy="543969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6BA9B1-E836-7D29-D62A-3AE009BF8F0B}"/>
              </a:ext>
            </a:extLst>
          </p:cNvPr>
          <p:cNvSpPr txBox="1"/>
          <p:nvPr/>
        </p:nvSpPr>
        <p:spPr>
          <a:xfrm>
            <a:off x="201264" y="377191"/>
            <a:ext cx="43655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</a:rPr>
              <a:t>Dashboard ( Tableau) :</a:t>
            </a:r>
            <a:endParaRPr lang="en-IN" sz="2800" b="1" u="sng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3606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96BA9B1-E836-7D29-D62A-3AE009BF8F0B}"/>
              </a:ext>
            </a:extLst>
          </p:cNvPr>
          <p:cNvSpPr txBox="1"/>
          <p:nvPr/>
        </p:nvSpPr>
        <p:spPr>
          <a:xfrm>
            <a:off x="201264" y="377191"/>
            <a:ext cx="43655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</a:rPr>
              <a:t>Dashboard ( Excel) :</a:t>
            </a:r>
            <a:endParaRPr lang="en-IN" sz="2800" b="1" u="sng" dirty="0">
              <a:solidFill>
                <a:srgbClr val="002060"/>
              </a:solidFill>
            </a:endParaRP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94CA63-B2ED-9837-9029-5852A27C7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22" y="941439"/>
            <a:ext cx="10653549" cy="5734665"/>
          </a:xfrm>
        </p:spPr>
      </p:pic>
    </p:spTree>
    <p:extLst>
      <p:ext uri="{BB962C8B-B14F-4D97-AF65-F5344CB8AC3E}">
        <p14:creationId xmlns:p14="http://schemas.microsoft.com/office/powerpoint/2010/main" val="4071029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5BCF-A85A-B5BD-C89E-5492BF0E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63539C-D62F-11BE-64B3-14725308787F}"/>
              </a:ext>
            </a:extLst>
          </p:cNvPr>
          <p:cNvSpPr txBox="1">
            <a:spLocks/>
          </p:cNvSpPr>
          <p:nvPr/>
        </p:nvSpPr>
        <p:spPr>
          <a:xfrm>
            <a:off x="533399" y="458822"/>
            <a:ext cx="11834248" cy="95152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Key Dashboard Insights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7F99ED-CA17-4592-FF92-380DC0DD5CDD}"/>
              </a:ext>
            </a:extLst>
          </p:cNvPr>
          <p:cNvSpPr txBox="1">
            <a:spLocks/>
          </p:cNvSpPr>
          <p:nvPr/>
        </p:nvSpPr>
        <p:spPr>
          <a:xfrm>
            <a:off x="533399" y="1492670"/>
            <a:ext cx="11196484" cy="440668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Total Credit : </a:t>
            </a:r>
            <a:r>
              <a:rPr lang="en-US" dirty="0">
                <a:solidFill>
                  <a:srgbClr val="002060"/>
                </a:solidFill>
              </a:rPr>
              <a:t>₹127.60M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Total Debit: </a:t>
            </a:r>
            <a:r>
              <a:rPr lang="en-US" dirty="0">
                <a:solidFill>
                  <a:srgbClr val="002060"/>
                </a:solidFill>
              </a:rPr>
              <a:t>₹127.29M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Credit/Debit Ratio: </a:t>
            </a:r>
            <a:r>
              <a:rPr lang="en-US" dirty="0">
                <a:solidFill>
                  <a:srgbClr val="002060"/>
                </a:solidFill>
              </a:rPr>
              <a:t>1.002 - </a:t>
            </a:r>
            <a:r>
              <a:rPr lang="en-US" dirty="0">
                <a:solidFill>
                  <a:schemeClr val="accent1"/>
                </a:solidFill>
              </a:rPr>
              <a:t>slightly above 1, meaning credits marginally exceed debits, reflecting a healthy financial balance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Top Branch by Transaction Amount: </a:t>
            </a:r>
            <a:r>
              <a:rPr lang="en-US" dirty="0">
                <a:solidFill>
                  <a:srgbClr val="002060"/>
                </a:solidFill>
              </a:rPr>
              <a:t>City Center Branch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Top bank by transaction Amount: </a:t>
            </a:r>
            <a:r>
              <a:rPr lang="en-US" dirty="0">
                <a:solidFill>
                  <a:srgbClr val="002060"/>
                </a:solidFill>
              </a:rPr>
              <a:t>Kotak Mahindra Bank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/>
                </a:solidFill>
              </a:rPr>
              <a:t>Most Steady Growth: </a:t>
            </a:r>
            <a:r>
              <a:rPr lang="en-US" dirty="0">
                <a:solidFill>
                  <a:schemeClr val="accent1"/>
                </a:solidFill>
              </a:rPr>
              <a:t>Suburban Branch - Shows the most consistent positive growth with </a:t>
            </a:r>
            <a:r>
              <a:rPr lang="en-US" b="1" dirty="0">
                <a:solidFill>
                  <a:schemeClr val="accent1"/>
                </a:solidFill>
              </a:rPr>
              <a:t>+9%, +8%, +14%</a:t>
            </a:r>
            <a:r>
              <a:rPr lang="en-US" dirty="0">
                <a:solidFill>
                  <a:schemeClr val="accent1"/>
                </a:solidFill>
              </a:rPr>
              <a:t> in April, June, and August 2024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1"/>
                </a:solidFill>
              </a:rPr>
              <a:t>Transaction Method: </a:t>
            </a:r>
            <a:r>
              <a:rPr lang="en-IN" dirty="0">
                <a:solidFill>
                  <a:schemeClr val="accent1"/>
                </a:solidFill>
              </a:rPr>
              <a:t>Equal distribution (~33% each). </a:t>
            </a:r>
            <a:r>
              <a:rPr lang="en-US" dirty="0">
                <a:solidFill>
                  <a:schemeClr val="accent1"/>
                </a:solidFill>
              </a:rPr>
              <a:t>No single method dominates - all three channels are equally active</a:t>
            </a:r>
          </a:p>
        </p:txBody>
      </p:sp>
    </p:spTree>
    <p:extLst>
      <p:ext uri="{BB962C8B-B14F-4D97-AF65-F5344CB8AC3E}">
        <p14:creationId xmlns:p14="http://schemas.microsoft.com/office/powerpoint/2010/main" val="347184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8246F-E544-B572-63AC-F5D23B9D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8052C42-3A27-FD7D-655F-44EF033780FF}"/>
              </a:ext>
            </a:extLst>
          </p:cNvPr>
          <p:cNvSpPr txBox="1">
            <a:spLocks/>
          </p:cNvSpPr>
          <p:nvPr/>
        </p:nvSpPr>
        <p:spPr>
          <a:xfrm>
            <a:off x="252919" y="312738"/>
            <a:ext cx="11572288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b="1" dirty="0">
                <a:solidFill>
                  <a:srgbClr val="002060"/>
                </a:solidFill>
              </a:rPr>
              <a:t>Bank Loan Analysis </a:t>
            </a:r>
            <a:br>
              <a:rPr lang="en-IN" b="1" dirty="0">
                <a:solidFill>
                  <a:srgbClr val="002060"/>
                </a:solidFill>
              </a:rPr>
            </a:br>
            <a:r>
              <a:rPr lang="en-IN" b="1" dirty="0">
                <a:solidFill>
                  <a:srgbClr val="002060"/>
                </a:solidFill>
              </a:rPr>
              <a:t>RePORT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E081AB3-9636-7B68-1B72-BBCF5A1AAE6B}"/>
              </a:ext>
            </a:extLst>
          </p:cNvPr>
          <p:cNvSpPr txBox="1">
            <a:spLocks/>
          </p:cNvSpPr>
          <p:nvPr/>
        </p:nvSpPr>
        <p:spPr>
          <a:xfrm>
            <a:off x="252919" y="1939925"/>
            <a:ext cx="6554788" cy="3768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Tool Used: </a:t>
            </a:r>
            <a:r>
              <a:rPr lang="en-US" dirty="0">
                <a:solidFill>
                  <a:srgbClr val="002060"/>
                </a:solidFill>
              </a:rPr>
              <a:t>Tableau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Dataset: </a:t>
            </a:r>
            <a:r>
              <a:rPr lang="en-US" dirty="0">
                <a:solidFill>
                  <a:srgbClr val="002060"/>
                </a:solidFill>
              </a:rPr>
              <a:t>Bank Loan Analytics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    Objective: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 analyze loan performance, revenue, and risk indicators using KPIs.</a:t>
            </a:r>
          </a:p>
        </p:txBody>
      </p:sp>
    </p:spTree>
    <p:extLst>
      <p:ext uri="{BB962C8B-B14F-4D97-AF65-F5344CB8AC3E}">
        <p14:creationId xmlns:p14="http://schemas.microsoft.com/office/powerpoint/2010/main" val="310218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91842-2D4B-0A70-6123-0B379711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80D3B3-482D-777D-8722-DA17F12EFA66}"/>
              </a:ext>
            </a:extLst>
          </p:cNvPr>
          <p:cNvSpPr txBox="1"/>
          <p:nvPr/>
        </p:nvSpPr>
        <p:spPr>
          <a:xfrm>
            <a:off x="449452" y="151770"/>
            <a:ext cx="108488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sz="2400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Introduction</a:t>
            </a:r>
          </a:p>
          <a:p>
            <a:endParaRPr lang="en-US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About the Project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This project focuses on analyzing business/operational data to generate meaningful insights.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The objective is to transform raw data into clear, actionable information for decision-making.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A centralized dashboard/report has been developed to monitor performance and trends.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en-US" sz="2000" b="1" cap="all" dirty="0">
                <a:ln w="3175" cmpd="sng">
                  <a:noFill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Purpose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Understand overall performance and growth patterns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Identify strengths, risks, and improvement opportunities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Support management with data-driven decisions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3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6504-84F5-8E2D-36D9-806E609E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95806-DE61-7819-F466-D579204A6F36}"/>
              </a:ext>
            </a:extLst>
          </p:cNvPr>
          <p:cNvSpPr txBox="1"/>
          <p:nvPr/>
        </p:nvSpPr>
        <p:spPr>
          <a:xfrm>
            <a:off x="402955" y="506948"/>
            <a:ext cx="9546957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cs typeface="Calibri" panose="020F0502020204030204" pitchFamily="34" charset="0"/>
              </a:rPr>
              <a:t>Scope</a:t>
            </a:r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Data collection and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Data visualization and analysis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Performance monitoring across key metrics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en-US" sz="1800" b="1" dirty="0">
                <a:solidFill>
                  <a:schemeClr val="bg1"/>
                </a:solidFill>
                <a:cs typeface="Calibri" panose="020F0502020204030204" pitchFamily="34" charset="0"/>
              </a:rPr>
              <a:t>Tools &amp; Technology</a:t>
            </a:r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Data Processing &amp;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Visualization Dashboard (Tableau/ Reporting Tool)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</a:rPr>
              <a:t>Structured database sources</a:t>
            </a:r>
          </a:p>
        </p:txBody>
      </p:sp>
    </p:spTree>
    <p:extLst>
      <p:ext uri="{BB962C8B-B14F-4D97-AF65-F5344CB8AC3E}">
        <p14:creationId xmlns:p14="http://schemas.microsoft.com/office/powerpoint/2010/main" val="251592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5629-EF38-B4F9-9E54-B73DD121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71601D-5C6C-7B9A-BAB5-CED70B862D76}"/>
              </a:ext>
            </a:extLst>
          </p:cNvPr>
          <p:cNvSpPr txBox="1">
            <a:spLocks/>
          </p:cNvSpPr>
          <p:nvPr/>
        </p:nvSpPr>
        <p:spPr>
          <a:xfrm>
            <a:off x="330740" y="197189"/>
            <a:ext cx="11339484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Data Overview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04EA96-D5A9-4E5A-BD2F-F7A8E9152C54}"/>
              </a:ext>
            </a:extLst>
          </p:cNvPr>
          <p:cNvSpPr txBox="1">
            <a:spLocks/>
          </p:cNvSpPr>
          <p:nvPr/>
        </p:nvSpPr>
        <p:spPr>
          <a:xfrm>
            <a:off x="175757" y="1515390"/>
            <a:ext cx="11230996" cy="3827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Total Rows Used: </a:t>
            </a:r>
            <a:r>
              <a:rPr lang="en-US" dirty="0">
                <a:solidFill>
                  <a:srgbClr val="002060"/>
                </a:solidFill>
              </a:rPr>
              <a:t>66,000 (approx.)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Total Columns Used: </a:t>
            </a:r>
            <a:r>
              <a:rPr lang="en-US" dirty="0">
                <a:solidFill>
                  <a:srgbClr val="002060"/>
                </a:solidFill>
              </a:rPr>
              <a:t>15+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    Important Columns: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Loan ID, Funded Amount, Total Interest, Collection, State,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Branch, Religion, Grade, Age, Product Group,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Loan Status, Default Flag, Delinquent Flag, Verification Status</a:t>
            </a:r>
          </a:p>
        </p:txBody>
      </p:sp>
    </p:spTree>
    <p:extLst>
      <p:ext uri="{BB962C8B-B14F-4D97-AF65-F5344CB8AC3E}">
        <p14:creationId xmlns:p14="http://schemas.microsoft.com/office/powerpoint/2010/main" val="249769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204D-E955-A944-7F53-1967CAF2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AFA4-1204-BAC4-A50D-7F0D5881ADE0}"/>
              </a:ext>
            </a:extLst>
          </p:cNvPr>
          <p:cNvSpPr txBox="1">
            <a:spLocks/>
          </p:cNvSpPr>
          <p:nvPr/>
        </p:nvSpPr>
        <p:spPr>
          <a:xfrm>
            <a:off x="533400" y="189866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Objectives -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8E6A6-9171-1C81-5D26-AEFF7BB29976}"/>
              </a:ext>
            </a:extLst>
          </p:cNvPr>
          <p:cNvSpPr txBox="1">
            <a:spLocks/>
          </p:cNvSpPr>
          <p:nvPr/>
        </p:nvSpPr>
        <p:spPr>
          <a:xfrm>
            <a:off x="533399" y="194391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1. Total Funded Amount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2. Total Loans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3. Total Collection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4. Total Interest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5. Default Loan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6. Delinquent Loan Rate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7. Default Loan Count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8. Delinquent Client Count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9. Non Verified Loan %</a:t>
            </a:r>
          </a:p>
        </p:txBody>
      </p:sp>
    </p:spTree>
    <p:extLst>
      <p:ext uri="{BB962C8B-B14F-4D97-AF65-F5344CB8AC3E}">
        <p14:creationId xmlns:p14="http://schemas.microsoft.com/office/powerpoint/2010/main" val="98940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CC198-733C-E734-BEDE-238A2EF1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A89FEE-8D27-D1EB-F7C8-4AAFD0A98062}"/>
              </a:ext>
            </a:extLst>
          </p:cNvPr>
          <p:cNvSpPr txBox="1">
            <a:spLocks/>
          </p:cNvSpPr>
          <p:nvPr/>
        </p:nvSpPr>
        <p:spPr>
          <a:xfrm>
            <a:off x="620949" y="110247"/>
            <a:ext cx="10305356" cy="102112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Process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94833A-3356-D481-0E17-422ECBD80FFA}"/>
              </a:ext>
            </a:extLst>
          </p:cNvPr>
          <p:cNvSpPr txBox="1">
            <a:spLocks/>
          </p:cNvSpPr>
          <p:nvPr/>
        </p:nvSpPr>
        <p:spPr>
          <a:xfrm>
            <a:off x="620949" y="1553360"/>
            <a:ext cx="8957004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1: </a:t>
            </a:r>
            <a:r>
              <a:rPr lang="en-US" dirty="0">
                <a:solidFill>
                  <a:srgbClr val="002060"/>
                </a:solidFill>
              </a:rPr>
              <a:t>Data Cleaning (Null check, format correction)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2: </a:t>
            </a:r>
            <a:r>
              <a:rPr lang="en-US" dirty="0">
                <a:solidFill>
                  <a:srgbClr val="002060"/>
                </a:solidFill>
              </a:rPr>
              <a:t>Created Calculated Fields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3: </a:t>
            </a:r>
            <a:r>
              <a:rPr lang="en-US" dirty="0">
                <a:solidFill>
                  <a:srgbClr val="002060"/>
                </a:solidFill>
              </a:rPr>
              <a:t>Built Charts (State, Grade, Religion, Age, Product)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Step 4: </a:t>
            </a:r>
            <a:r>
              <a:rPr lang="en-US" dirty="0">
                <a:solidFill>
                  <a:srgbClr val="002060"/>
                </a:solidFill>
              </a:rPr>
              <a:t>Dashboard Design and KPI Cards</a:t>
            </a:r>
          </a:p>
        </p:txBody>
      </p:sp>
    </p:spTree>
    <p:extLst>
      <p:ext uri="{BB962C8B-B14F-4D97-AF65-F5344CB8AC3E}">
        <p14:creationId xmlns:p14="http://schemas.microsoft.com/office/powerpoint/2010/main" val="86035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3E24-CDC5-6F1C-ECA8-7B99ADC4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4AE0-B2C7-E542-6E4A-5874984C3A8F}"/>
              </a:ext>
            </a:extLst>
          </p:cNvPr>
          <p:cNvSpPr txBox="1">
            <a:spLocks/>
          </p:cNvSpPr>
          <p:nvPr/>
        </p:nvSpPr>
        <p:spPr>
          <a:xfrm>
            <a:off x="796045" y="418289"/>
            <a:ext cx="10889677" cy="992057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KPI Calculation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CF1F-EE64-7FD5-7D89-3586C4BD9ABA}"/>
              </a:ext>
            </a:extLst>
          </p:cNvPr>
          <p:cNvSpPr txBox="1">
            <a:spLocks/>
          </p:cNvSpPr>
          <p:nvPr/>
        </p:nvSpPr>
        <p:spPr>
          <a:xfrm>
            <a:off x="796046" y="2036678"/>
            <a:ext cx="9386340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Funded Amount = SUM(Funded Amount)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Collection = SUM(Collection)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Interest = SUM(Total Interest)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Total Loans = COUNT(Loan ID)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Default Rate = Default Count / Total Loans *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Delinquent Rate = Delinquent Count / Total Loans *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Non Verified % = Not Verified Count / Total Loans * 100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Profit Insight = Total Collection - Funded Amount</a:t>
            </a:r>
          </a:p>
        </p:txBody>
      </p:sp>
    </p:spTree>
    <p:extLst>
      <p:ext uri="{BB962C8B-B14F-4D97-AF65-F5344CB8AC3E}">
        <p14:creationId xmlns:p14="http://schemas.microsoft.com/office/powerpoint/2010/main" val="34158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19E3-0171-C78E-B39E-4A8F8A70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E8DB-EB15-68DE-0085-D2258085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State Wise Loans</a:t>
            </a:r>
            <a:endParaRPr lang="en-IN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782C8-AD0C-E3F0-0AE2-3EFABABC7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80" y="2182761"/>
            <a:ext cx="5574890" cy="4430240"/>
          </a:xfrm>
          <a:prstGeom prst="rect">
            <a:avLst/>
          </a:prstGeom>
          <a:effectLst>
            <a:glow rad="2794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schemeClr val="bg2">
                <a:lumMod val="60000"/>
                <a:lumOff val="40000"/>
                <a:alpha val="40000"/>
              </a:schemeClr>
            </a:outerShdw>
            <a:reflection stA="99000" endPos="0" dist="508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6F5074-08F8-AF22-E5B4-4ECE9AB6763A}"/>
              </a:ext>
            </a:extLst>
          </p:cNvPr>
          <p:cNvSpPr txBox="1"/>
          <p:nvPr/>
        </p:nvSpPr>
        <p:spPr>
          <a:xfrm>
            <a:off x="6331973" y="1170038"/>
            <a:ext cx="5490447" cy="3416320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Uttar Pradesh and </a:t>
            </a:r>
            <a:r>
              <a:rPr lang="en-IN" dirty="0">
                <a:solidFill>
                  <a:schemeClr val="bg1"/>
                </a:solidFill>
              </a:rPr>
              <a:t>Punjab dominates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Bihar, Haryana and Rajasthan and Mid  range clusters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Odisha ,Assam, West Bengal contribute moderately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Jammu &amp; Kashmir, Uttarakhand and Himachal Pradesh are at bottom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Overall distribution skewed to specific states, showing imbalance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350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BEC4D1-E21C-EF8E-55D2-CE8CFF7AA5FB}"/>
              </a:ext>
            </a:extLst>
          </p:cNvPr>
          <p:cNvSpPr txBox="1">
            <a:spLocks/>
          </p:cNvSpPr>
          <p:nvPr/>
        </p:nvSpPr>
        <p:spPr>
          <a:xfrm>
            <a:off x="9832" y="1"/>
            <a:ext cx="12192000" cy="100288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Religion Wise Loans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CFC6FB-41C4-9612-143B-CE77D0362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65" y="2495903"/>
            <a:ext cx="4686954" cy="3734321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13FCAB-1155-ECB1-D506-746702FB1619}"/>
              </a:ext>
            </a:extLst>
          </p:cNvPr>
          <p:cNvSpPr txBox="1"/>
          <p:nvPr/>
        </p:nvSpPr>
        <p:spPr>
          <a:xfrm>
            <a:off x="6292646" y="1769808"/>
            <a:ext cx="4365524" cy="3139321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 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Loan uptake is dominated by Hindus, with Sikhs and Muslims as significant contributors,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while Christians remain marginal.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This distribution may reflect both population proportions and access to financial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815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E54E1DC-1F52-60A3-70A1-019A6CA6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2513F0-46B2-5F25-AD2C-878CFA3F1A2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4725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Product -Group Wise Loans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7085C-2856-6E32-9AF2-7671695AB196}"/>
              </a:ext>
            </a:extLst>
          </p:cNvPr>
          <p:cNvSpPr txBox="1"/>
          <p:nvPr/>
        </p:nvSpPr>
        <p:spPr>
          <a:xfrm>
            <a:off x="240322" y="747253"/>
            <a:ext cx="8903677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Loan demand is concentrated in housing, services, and business,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while consumer goods and niche categories remain marginal.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reflects a mix of basic needs, livelihood support, and selective consumer spending.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7A8351-EF8D-AEB9-E20C-58336F4E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2" y="3052183"/>
            <a:ext cx="8903678" cy="3498081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2336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24051C-6931-0E57-7ACE-670588F9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B157FC-1C24-EDAB-51C1-580EEEFEF8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62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Disbursement Trend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60EC8-EC92-E9F1-C1A0-404C10D84D9B}"/>
              </a:ext>
            </a:extLst>
          </p:cNvPr>
          <p:cNvSpPr txBox="1"/>
          <p:nvPr/>
        </p:nvSpPr>
        <p:spPr>
          <a:xfrm>
            <a:off x="487568" y="1022555"/>
            <a:ext cx="8927690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The disbursement trend shows three phases: rapid growth leading to a one‑time peak, followed by a steady decline and eventual near‑zero activity. This indicates the process was event‑driven rather than sustainable, highlighting the need for strategies that maintain consistency beyond peak periods.</a:t>
            </a:r>
            <a:endParaRPr lang="en-IN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E7F29-EA21-2168-1A4C-E6BAD8051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67" y="3824188"/>
            <a:ext cx="8927690" cy="2694950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0930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AA2A4B4-767A-835E-9FA6-3C2C71FAD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77CF00-B151-8575-C4BF-CD95F83BC071}"/>
              </a:ext>
            </a:extLst>
          </p:cNvPr>
          <p:cNvSpPr txBox="1">
            <a:spLocks/>
          </p:cNvSpPr>
          <p:nvPr/>
        </p:nvSpPr>
        <p:spPr>
          <a:xfrm>
            <a:off x="684212" y="78657"/>
            <a:ext cx="8534400" cy="6194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KPI -10</a:t>
            </a:r>
          </a:p>
          <a:p>
            <a:r>
              <a:rPr lang="en-US" dirty="0"/>
              <a:t>Grade wise Loans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11C8F-0B26-3852-3CE3-260C0A2951CC}"/>
              </a:ext>
            </a:extLst>
          </p:cNvPr>
          <p:cNvSpPr txBox="1"/>
          <p:nvPr/>
        </p:nvSpPr>
        <p:spPr>
          <a:xfrm>
            <a:off x="206479" y="4611103"/>
            <a:ext cx="11371574" cy="1477328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</a:rPr>
              <a:t>Category B dominates with nearly 30% of total loans, while A and C together contribute another 40%. The rest are much smaller, with G at just 1.4%, showing a highly skewed distribution where lending is concentrated in a few categories.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5674A-EC33-3BF4-8968-D609059E7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9" y="954288"/>
            <a:ext cx="9320980" cy="3400616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21012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25D32509-BC6F-36B8-BFFA-C19B0F47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8BE649-16A5-DB80-86FF-DD86BF7D0A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3406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KPI -15 </a:t>
            </a:r>
          </a:p>
          <a:p>
            <a:r>
              <a:rPr lang="en-US" dirty="0"/>
              <a:t>Loan Status wise Loans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15EAE-C0B7-81B6-7424-EB87D54F7526}"/>
              </a:ext>
            </a:extLst>
          </p:cNvPr>
          <p:cNvSpPr txBox="1"/>
          <p:nvPr/>
        </p:nvSpPr>
        <p:spPr>
          <a:xfrm>
            <a:off x="5631051" y="1344600"/>
            <a:ext cx="6246352" cy="2031325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</a:rPr>
              <a:t>Over half of loans remain active (55%), while about a quarter are fully paid. The rest—transferred, insured, or cancelled—make up less than 6%, showing a portfolio that is largely ongoing with relatively low closure or risk events.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2D6885-C2EE-FF24-F807-AB69B8244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97" y="1138134"/>
            <a:ext cx="4896533" cy="3677163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0487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53C90E1-5258-7137-C5BD-459B52B4D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53546A-2594-A721-DD61-ADA83E827CD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924232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dirty="0"/>
              <a:t>Age Group wise Loans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E89B74-592C-E049-3D23-5C18F5E26475}"/>
              </a:ext>
            </a:extLst>
          </p:cNvPr>
          <p:cNvSpPr txBox="1"/>
          <p:nvPr/>
        </p:nvSpPr>
        <p:spPr>
          <a:xfrm>
            <a:off x="5672380" y="1282175"/>
            <a:ext cx="4484343" cy="2862322"/>
          </a:xfrm>
          <a:prstGeom prst="rect">
            <a:avLst/>
          </a:prstGeom>
          <a:noFill/>
          <a:ln w="31750"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Insights: </a:t>
            </a:r>
          </a:p>
          <a:p>
            <a:endParaRPr lang="en-US" b="1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The dataset is dominated by younger working‑age groups, with 26–35 (35%) and 36–45 (32%) together making up over two‑thirds of the population. Older groups above 55 are minimal, showing a strong concentration in the prime earning and borrowing age range.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BAC63-0A85-C1D5-B0AF-4374C40B2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54" y="2436337"/>
            <a:ext cx="4827104" cy="4003599"/>
          </a:xfrm>
          <a:prstGeom prst="rect">
            <a:avLst/>
          </a:prstGeom>
          <a:ln w="53975"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0481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FB4165-C09D-887C-7E6B-79871A9D7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0" y="668594"/>
            <a:ext cx="10894143" cy="580103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(Tableau):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224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(POWER BI):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DC545-E690-0573-0B18-F49FF55F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619435"/>
            <a:ext cx="9615948" cy="4431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CAEB5D-7C20-D493-F141-7B8FC01D7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9" y="5051145"/>
            <a:ext cx="9615948" cy="164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196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rgbClr val="002060"/>
                </a:solidFill>
              </a:rPr>
              <a:t>Dashboard (EXCEL):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44F0B1-3F0A-CC75-5E58-1AB45C324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19" y="722526"/>
            <a:ext cx="8908026" cy="40057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1FBEF1-BE88-FEE4-953C-D31BF03A8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9" y="4723456"/>
            <a:ext cx="8908026" cy="168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21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8940-DE19-660B-21DE-6557E762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C98F5D-0B78-7310-E04F-1DA98317FFEA}"/>
              </a:ext>
            </a:extLst>
          </p:cNvPr>
          <p:cNvSpPr txBox="1">
            <a:spLocks/>
          </p:cNvSpPr>
          <p:nvPr/>
        </p:nvSpPr>
        <p:spPr>
          <a:xfrm>
            <a:off x="533399" y="458822"/>
            <a:ext cx="11834248" cy="95152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Key Dashboard Insights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FB4CE4-AAB3-7CE8-FACE-ED24259B7CD5}"/>
              </a:ext>
            </a:extLst>
          </p:cNvPr>
          <p:cNvSpPr txBox="1">
            <a:spLocks/>
          </p:cNvSpPr>
          <p:nvPr/>
        </p:nvSpPr>
        <p:spPr>
          <a:xfrm>
            <a:off x="533400" y="1846633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Total Funded: </a:t>
            </a:r>
            <a:r>
              <a:rPr lang="en-US" dirty="0">
                <a:solidFill>
                  <a:srgbClr val="002060"/>
                </a:solidFill>
              </a:rPr>
              <a:t>₹733M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Total Collection: </a:t>
            </a:r>
            <a:r>
              <a:rPr lang="en-US" dirty="0">
                <a:solidFill>
                  <a:srgbClr val="002060"/>
                </a:solidFill>
              </a:rPr>
              <a:t>₹808M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Default Rate: </a:t>
            </a:r>
            <a:r>
              <a:rPr lang="en-US" dirty="0">
                <a:solidFill>
                  <a:srgbClr val="002060"/>
                </a:solidFill>
              </a:rPr>
              <a:t>1.6%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Delinquent Rate: </a:t>
            </a:r>
            <a:r>
              <a:rPr lang="en-US" dirty="0">
                <a:solidFill>
                  <a:srgbClr val="002060"/>
                </a:solidFill>
              </a:rPr>
              <a:t>10.8%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Highest Loan State: </a:t>
            </a:r>
            <a:r>
              <a:rPr lang="en-US" dirty="0">
                <a:solidFill>
                  <a:srgbClr val="002060"/>
                </a:solidFill>
              </a:rPr>
              <a:t>Uttar Pradesh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2060"/>
                </a:solidFill>
              </a:rPr>
              <a:t> Top Revenue Branch: </a:t>
            </a:r>
            <a:r>
              <a:rPr lang="en-US" dirty="0">
                <a:solidFill>
                  <a:srgbClr val="002060"/>
                </a:solidFill>
              </a:rPr>
              <a:t>Mathura</a:t>
            </a:r>
          </a:p>
        </p:txBody>
      </p:sp>
    </p:spTree>
    <p:extLst>
      <p:ext uri="{BB962C8B-B14F-4D97-AF65-F5344CB8AC3E}">
        <p14:creationId xmlns:p14="http://schemas.microsoft.com/office/powerpoint/2010/main" val="305949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20446-FB5D-852E-FD9A-F3360B79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C50B-9802-63D3-EB40-C5F6E24A3457}"/>
              </a:ext>
            </a:extLst>
          </p:cNvPr>
          <p:cNvSpPr txBox="1">
            <a:spLocks/>
          </p:cNvSpPr>
          <p:nvPr/>
        </p:nvSpPr>
        <p:spPr>
          <a:xfrm>
            <a:off x="533400" y="215630"/>
            <a:ext cx="10222424" cy="90024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Recommendations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1F493-C201-C228-74B5-55E39181865B}"/>
              </a:ext>
            </a:extLst>
          </p:cNvPr>
          <p:cNvSpPr txBox="1">
            <a:spLocks/>
          </p:cNvSpPr>
          <p:nvPr/>
        </p:nvSpPr>
        <p:spPr>
          <a:xfrm>
            <a:off x="533400" y="1642354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Reduce Delinquent Loans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Monitor Non-Verified Loans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Focus on High Performing Branches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Strengthen Credit Checks for Low Grades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Target 26-35 Age Group for Growth</a:t>
            </a:r>
          </a:p>
        </p:txBody>
      </p:sp>
    </p:spTree>
    <p:extLst>
      <p:ext uri="{BB962C8B-B14F-4D97-AF65-F5344CB8AC3E}">
        <p14:creationId xmlns:p14="http://schemas.microsoft.com/office/powerpoint/2010/main" val="185623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C993-FB32-CE62-B7FC-D1CA1CB5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D639-BF90-A9E3-527C-F6F6BC634014}"/>
              </a:ext>
            </a:extLst>
          </p:cNvPr>
          <p:cNvSpPr txBox="1">
            <a:spLocks/>
          </p:cNvSpPr>
          <p:nvPr/>
        </p:nvSpPr>
        <p:spPr>
          <a:xfrm>
            <a:off x="533400" y="244813"/>
            <a:ext cx="11322803" cy="91756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Challenges &amp;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5F9ED-3B8F-C64B-7C6F-374DBDF27E7C}"/>
              </a:ext>
            </a:extLst>
          </p:cNvPr>
          <p:cNvSpPr txBox="1">
            <a:spLocks/>
          </p:cNvSpPr>
          <p:nvPr/>
        </p:nvSpPr>
        <p:spPr>
          <a:xfrm>
            <a:off x="533400" y="1671537"/>
            <a:ext cx="1017592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2060"/>
                </a:solidFill>
              </a:rPr>
              <a:t>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Data Cleaning, Calculation Errors, Date Formatting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Learnings: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KPI Logic, Tableau Calculated Fields,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Dashboard Design &amp;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55278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388D-011E-AE22-20A3-6A79DA02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EF9BC0-EDDE-55A4-CAAE-8F8DD75854D3}"/>
              </a:ext>
            </a:extLst>
          </p:cNvPr>
          <p:cNvSpPr txBox="1">
            <a:spLocks/>
          </p:cNvSpPr>
          <p:nvPr/>
        </p:nvSpPr>
        <p:spPr>
          <a:xfrm>
            <a:off x="533400" y="419911"/>
            <a:ext cx="10625380" cy="98104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D98F1F-9C2B-DA7E-3951-6ADFBF3E8E5C}"/>
              </a:ext>
            </a:extLst>
          </p:cNvPr>
          <p:cNvSpPr txBox="1">
            <a:spLocks/>
          </p:cNvSpPr>
          <p:nvPr/>
        </p:nvSpPr>
        <p:spPr>
          <a:xfrm>
            <a:off x="533399" y="1689370"/>
            <a:ext cx="1073386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Bank is financially strong (Collection &gt; Funded)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Default rate is 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Delinquent rate needs improvement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</a:rPr>
              <a:t> Dashboard supports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00557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DBF7-26CD-1E75-6FEA-43319DE4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90D0E5-A13C-7252-F022-73D30BF80E21}"/>
              </a:ext>
            </a:extLst>
          </p:cNvPr>
          <p:cNvSpPr txBox="1">
            <a:spLocks/>
          </p:cNvSpPr>
          <p:nvPr/>
        </p:nvSpPr>
        <p:spPr>
          <a:xfrm>
            <a:off x="533400" y="419911"/>
            <a:ext cx="10625380" cy="98104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80D010-DD10-702C-854E-A49C6747E7F7}"/>
              </a:ext>
            </a:extLst>
          </p:cNvPr>
          <p:cNvSpPr txBox="1">
            <a:spLocks/>
          </p:cNvSpPr>
          <p:nvPr/>
        </p:nvSpPr>
        <p:spPr>
          <a:xfrm>
            <a:off x="533399" y="1689370"/>
            <a:ext cx="1073386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1F4A5-1F6B-E473-3DC4-C2D627A31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32155" y="1096296"/>
            <a:ext cx="9330813" cy="46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</TotalTime>
  <Words>1939</Words>
  <Application>Microsoft Office PowerPoint</Application>
  <PresentationFormat>Widescreen</PresentationFormat>
  <Paragraphs>264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Algerian</vt:lpstr>
      <vt:lpstr>Aptos</vt:lpstr>
      <vt:lpstr>Arial</vt:lpstr>
      <vt:lpstr>Arial Black</vt:lpstr>
      <vt:lpstr>Calibri</vt:lpstr>
      <vt:lpstr>Century Gothic</vt:lpstr>
      <vt:lpstr>Century Gothic (Body)</vt:lpstr>
      <vt:lpstr>Century Gothic (Headings)</vt:lpstr>
      <vt:lpstr>Wingdings</vt:lpstr>
      <vt:lpstr>Wingdings 3</vt:lpstr>
      <vt:lpstr>Slice</vt:lpstr>
      <vt:lpstr>PowerPoint Presentation</vt:lpstr>
      <vt:lpstr>Meet Our team:</vt:lpstr>
      <vt:lpstr>PowerPoint Presentation</vt:lpstr>
      <vt:lpstr>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team:</dc:title>
  <dc:creator>Avinash Chavan</dc:creator>
  <cp:lastModifiedBy>Nitro</cp:lastModifiedBy>
  <cp:revision>24</cp:revision>
  <dcterms:created xsi:type="dcterms:W3CDTF">2026-02-17T11:16:00Z</dcterms:created>
  <dcterms:modified xsi:type="dcterms:W3CDTF">2026-02-19T09:26:00Z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2026-02-18T05:12:13Z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180e4901-edf9-47a0-9756-059be2fb1cc1</vt:lpwstr>
  </property>
  <property fmtid="{D5CDD505-2E9C-101B-9397-08002B2CF9AE}" pid="7" name="MSIP_Label_defa4170-0d19-0005-0004-bc88714345d2_ActionId">
    <vt:lpwstr>49924cbb-c03e-472e-8502-51e5f17380a8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